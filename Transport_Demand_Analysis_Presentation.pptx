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1" r:id="rId6"/>
    <p:sldId id="262" r:id="rId7"/>
    <p:sldId id="263" r:id="rId8"/>
    <p:sldId id="260"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1" d="100"/>
          <a:sy n="91" d="100"/>
        </p:scale>
        <p:origin x="121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9"/>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4960137"/>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Subtitle 2"/>
          <p:cNvSpPr>
            <a:spLocks noGrp="1"/>
          </p:cNvSpPr>
          <p:nvPr>
            <p:ph type="subTitle" idx="1"/>
          </p:nvPr>
        </p:nvSpPr>
        <p:spPr>
          <a:xfrm>
            <a:off x="6457950" y="4960137"/>
            <a:ext cx="2400300" cy="1463040"/>
          </a:xfrm>
        </p:spPr>
        <p:txBody>
          <a:bodyPr lIns="91440" rIns="91440" anchor="ctr">
            <a:normAutofit/>
          </a:bodyPr>
          <a:lstStyle>
            <a:lvl1pPr marL="0" indent="0" algn="l">
              <a:lnSpc>
                <a:spcPct val="100000"/>
              </a:lnSpc>
              <a:spcBef>
                <a:spcPts val="0"/>
              </a:spcBef>
              <a:buNone/>
              <a:defRPr sz="160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5BCAD085-E8A6-8845-BD4E-CB4CCA059FC4}" type="datetimeFigureOut">
              <a:rPr lang="en-US" smtClean="0"/>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7826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115818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Freeform 10"/>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960137"/>
            <a:ext cx="5829300" cy="1463040"/>
          </a:xfrm>
        </p:spPr>
        <p:txBody>
          <a:bodyPr anchor="ctr">
            <a:normAutofit/>
          </a:bodyPr>
          <a:lstStyle>
            <a:lvl1pPr algn="r">
              <a:defRPr sz="44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6457950" y="4960137"/>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88466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768096" y="2286000"/>
            <a:ext cx="35661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91990" y="2286000"/>
            <a:ext cx="35661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8/4/2025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288048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768096" y="2179636"/>
            <a:ext cx="3566160" cy="822960"/>
          </a:xfrm>
        </p:spPr>
        <p:txBody>
          <a:bodyPr lIns="137160" rIns="137160" anchor="ctr">
            <a:normAutofit/>
          </a:bodyPr>
          <a:lstStyle>
            <a:lvl1pPr marL="0" indent="0">
              <a:spcBef>
                <a:spcPts val="0"/>
              </a:spcBef>
              <a:spcAft>
                <a:spcPts val="0"/>
              </a:spcAft>
              <a:buNone/>
              <a:defRPr sz="22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68096" y="2967788"/>
            <a:ext cx="356616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91990" y="2179636"/>
            <a:ext cx="3566160" cy="822960"/>
          </a:xfrm>
        </p:spPr>
        <p:txBody>
          <a:bodyPr lIns="137160" rIns="137160" anchor="ctr">
            <a:normAutofit/>
          </a:bodyPr>
          <a:lstStyle>
            <a:lvl1pPr marL="0" indent="0">
              <a:spcBef>
                <a:spcPts val="0"/>
              </a:spcBef>
              <a:spcAft>
                <a:spcPts val="0"/>
              </a:spcAft>
              <a:buNone/>
              <a:defRPr lang="en-US" sz="22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4491990" y="2967788"/>
            <a:ext cx="356616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8/4/2025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75148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8/4/2025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06876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74176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768096" y="471509"/>
            <a:ext cx="3291840" cy="1737360"/>
          </a:xfrm>
        </p:spPr>
        <p:txBody>
          <a:bodyPr>
            <a:noAutofit/>
          </a:bodyPr>
          <a:lstStyle>
            <a:lvl1pPr>
              <a:lnSpc>
                <a:spcPct val="80000"/>
              </a:lnSpc>
              <a:defRPr sz="3600"/>
            </a:lvl1pPr>
          </a:lstStyle>
          <a:p>
            <a:r>
              <a:rPr lang="en-US"/>
              <a:t>Click to edit Master title style</a:t>
            </a:r>
            <a:endParaRPr lang="en-US" dirty="0"/>
          </a:p>
        </p:txBody>
      </p:sp>
      <p:sp>
        <p:nvSpPr>
          <p:cNvPr id="3" name="Content Placeholder 2"/>
          <p:cNvSpPr>
            <a:spLocks noGrp="1"/>
          </p:cNvSpPr>
          <p:nvPr>
            <p:ph idx="1"/>
          </p:nvPr>
        </p:nvSpPr>
        <p:spPr>
          <a:xfrm>
            <a:off x="4286250" y="822960"/>
            <a:ext cx="4258818" cy="5184648"/>
          </a:xfrm>
        </p:spPr>
        <p:txBody>
          <a:bodyPr>
            <a:normAutofit/>
          </a:bodyPr>
          <a:lstStyle>
            <a:lvl1pPr>
              <a:defRPr sz="2000"/>
            </a:lvl1pPr>
            <a:lvl2pPr>
              <a:defRPr sz="16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8096" y="2257506"/>
            <a:ext cx="329184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24201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4960138"/>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9141714" cy="4572000"/>
          </a:xfrm>
          <a:solidFill>
            <a:schemeClr val="accent1">
              <a:lumMod val="60000"/>
              <a:lumOff val="40000"/>
            </a:schemeClr>
          </a:solidFill>
        </p:spPr>
        <p:txBody>
          <a:bodyPr lIns="457200" tIns="36576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457950" y="4960138"/>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2246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40628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762000"/>
            <a:ext cx="1971675"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742951" y="762000"/>
            <a:ext cx="5686425"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7" name="Straight Connector 6"/>
          <p:cNvCxnSpPr/>
          <p:nvPr/>
        </p:nvCxnSpPr>
        <p:spPr>
          <a:xfrm rot="5400000" flipV="1">
            <a:off x="7543800" y="173563"/>
            <a:ext cx="0" cy="685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35377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8096" y="585216"/>
            <a:ext cx="7290054"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68096" y="2286000"/>
            <a:ext cx="7290055"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8097" y="6470704"/>
            <a:ext cx="161560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5BCAD085-E8A6-8845-BD4E-CB4CCA059FC4}" type="datetimeFigureOut">
              <a:rPr lang="en-US" smtClean="0"/>
              <a:t>8/4/2025</a:t>
            </a:fld>
            <a:endParaRPr lang="en-US"/>
          </a:p>
        </p:txBody>
      </p:sp>
      <p:sp>
        <p:nvSpPr>
          <p:cNvPr id="5" name="Footer Placeholder 4"/>
          <p:cNvSpPr>
            <a:spLocks noGrp="1"/>
          </p:cNvSpPr>
          <p:nvPr>
            <p:ph type="ftr" sz="quarter" idx="3"/>
          </p:nvPr>
        </p:nvSpPr>
        <p:spPr>
          <a:xfrm>
            <a:off x="3632200" y="6470704"/>
            <a:ext cx="4426094"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8128000" y="6470704"/>
            <a:ext cx="730250"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C1FF6DA9-008F-8B48-92A6-B652298478BF}" type="slidenum">
              <a:rPr lang="en-US" smtClean="0"/>
              <a:t>‹#›</a:t>
            </a:fld>
            <a:endParaRPr lang="en-US"/>
          </a:p>
        </p:txBody>
      </p:sp>
      <p:cxnSp>
        <p:nvCxnSpPr>
          <p:cNvPr id="7" name="Straight Connector 6"/>
          <p:cNvCxnSpPr/>
          <p:nvPr/>
        </p:nvCxnSpPr>
        <p:spPr>
          <a:xfrm flipV="1">
            <a:off x="5715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25412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Transport Demand</a:t>
            </a:r>
            <a:r>
              <a:rPr lang="en-IN" dirty="0"/>
              <a:t> Prediction</a:t>
            </a:r>
            <a:r>
              <a:rPr dirty="0"/>
              <a:t> Analysis</a:t>
            </a:r>
          </a:p>
        </p:txBody>
      </p:sp>
      <p:sp>
        <p:nvSpPr>
          <p:cNvPr id="3" name="Subtitle 2"/>
          <p:cNvSpPr>
            <a:spLocks noGrp="1"/>
          </p:cNvSpPr>
          <p:nvPr>
            <p:ph type="subTitle" idx="1"/>
          </p:nvPr>
        </p:nvSpPr>
        <p:spPr/>
        <p:txBody>
          <a:bodyPr/>
          <a:lstStyle/>
          <a:p>
            <a:r>
              <a:rPr dirty="0"/>
              <a:t>Insights &amp; Modeling Overview</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Project Objective</a:t>
            </a:r>
          </a:p>
        </p:txBody>
      </p:sp>
      <p:sp>
        <p:nvSpPr>
          <p:cNvPr id="3" name="Content Placeholder 2"/>
          <p:cNvSpPr>
            <a:spLocks noGrp="1"/>
          </p:cNvSpPr>
          <p:nvPr>
            <p:ph idx="1"/>
          </p:nvPr>
        </p:nvSpPr>
        <p:spPr>
          <a:xfrm>
            <a:off x="768096" y="2084832"/>
            <a:ext cx="7290055" cy="4023360"/>
          </a:xfrm>
        </p:spPr>
        <p:txBody>
          <a:bodyPr/>
          <a:lstStyle/>
          <a:p>
            <a:r>
              <a:rPr dirty="0"/>
              <a:t>To analyze transportation data and identify demand trends </a:t>
            </a:r>
            <a:r>
              <a:rPr lang="en-IN" dirty="0"/>
              <a:t>and</a:t>
            </a:r>
            <a:r>
              <a:rPr dirty="0"/>
              <a:t> </a:t>
            </a:r>
            <a:r>
              <a:rPr lang="en-US" dirty="0"/>
              <a:t>build a regression model that can predict the number of seats that will be sold for each ride (</a:t>
            </a:r>
            <a:r>
              <a:rPr lang="en-US" dirty="0" err="1"/>
              <a:t>ride_id</a:t>
            </a:r>
            <a:r>
              <a:rPr lang="en-US" dirty="0"/>
              <a:t>), based on:</a:t>
            </a:r>
          </a:p>
          <a:p>
            <a:r>
              <a:rPr lang="en-US" dirty="0"/>
              <a:t>Route details (</a:t>
            </a:r>
            <a:r>
              <a:rPr lang="en-US" dirty="0" err="1"/>
              <a:t>travel_from</a:t>
            </a:r>
            <a:r>
              <a:rPr lang="en-US" dirty="0"/>
              <a:t>, </a:t>
            </a:r>
            <a:r>
              <a:rPr lang="en-US" dirty="0" err="1"/>
              <a:t>car_type</a:t>
            </a:r>
            <a:r>
              <a:rPr lang="en-US" dirty="0"/>
              <a:t>, etc.)</a:t>
            </a:r>
          </a:p>
          <a:p>
            <a:r>
              <a:rPr lang="en-US" dirty="0"/>
              <a:t>Schedule info (</a:t>
            </a:r>
            <a:r>
              <a:rPr lang="en-US" dirty="0" err="1"/>
              <a:t>travel_date</a:t>
            </a:r>
            <a:r>
              <a:rPr lang="en-US" dirty="0"/>
              <a:t>, </a:t>
            </a:r>
            <a:r>
              <a:rPr lang="en-US" dirty="0" err="1"/>
              <a:t>travel_time</a:t>
            </a:r>
            <a:r>
              <a:rPr lang="en-US" dirty="0"/>
              <a:t>)</a:t>
            </a:r>
          </a:p>
          <a:p>
            <a:r>
              <a:rPr lang="en-US" dirty="0"/>
              <a:t>Capacity of the vehicle (</a:t>
            </a:r>
            <a:r>
              <a:rPr lang="en-US" dirty="0" err="1"/>
              <a:t>max_capacity</a:t>
            </a:r>
            <a:r>
              <a:rPr lang="en-US" dirty="0"/>
              <a:t>)</a:t>
            </a:r>
          </a:p>
          <a:p>
            <a:r>
              <a:rPr lang="en-US" dirty="0"/>
              <a:t>Temporal patterns (e.g., weekdays, month, time of day)</a:t>
            </a:r>
          </a:p>
          <a:p>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Insights</a:t>
            </a:r>
          </a:p>
        </p:txBody>
      </p:sp>
      <p:sp>
        <p:nvSpPr>
          <p:cNvPr id="3" name="Content Placeholder 2"/>
          <p:cNvSpPr>
            <a:spLocks noGrp="1"/>
          </p:cNvSpPr>
          <p:nvPr>
            <p:ph idx="1"/>
          </p:nvPr>
        </p:nvSpPr>
        <p:spPr/>
        <p:txBody>
          <a:bodyPr/>
          <a:lstStyle/>
          <a:p>
            <a:endParaRPr/>
          </a:p>
          <a:p>
            <a:r>
              <a:t>Total Demand: A total of 52K seats were sold with an average of 8.26 seats per ride.</a:t>
            </a:r>
          </a:p>
          <a:p>
            <a:r>
              <a:t>Peak Demand: Highest seat sales occurred in months 2 and 12, reaching over 12K.</a:t>
            </a:r>
          </a:p>
          <a:p>
            <a:r>
              <a:t>Low Demand: Months 9 to 11 saw the lowest demand, nearing zero sales.</a:t>
            </a:r>
          </a:p>
          <a:p>
            <a:r>
              <a:t>Top Route: Kisii had the highest seat sales among all routes.</a:t>
            </a:r>
          </a:p>
          <a:p>
            <a:r>
              <a:t>Weekly Trend: Weekdays 10 and 19 recorded the highest seat bookings.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Insights (continued)</a:t>
            </a:r>
          </a:p>
        </p:txBody>
      </p:sp>
      <p:sp>
        <p:nvSpPr>
          <p:cNvPr id="3" name="Content Placeholder 2"/>
          <p:cNvSpPr>
            <a:spLocks noGrp="1"/>
          </p:cNvSpPr>
          <p:nvPr>
            <p:ph idx="1"/>
          </p:nvPr>
        </p:nvSpPr>
        <p:spPr/>
        <p:txBody>
          <a:bodyPr/>
          <a:lstStyle/>
          <a:p>
            <a:endParaRPr dirty="0"/>
          </a:p>
          <a:p>
            <a:r>
              <a:rPr dirty="0"/>
              <a:t>Weekday Pattern: Friday (weekday 5) showed consistently high seat sales across weeks.</a:t>
            </a:r>
          </a:p>
          <a:p>
            <a:r>
              <a:rPr dirty="0"/>
              <a:t>Prediction Accuracy: Model predictions closely match actual values.</a:t>
            </a:r>
          </a:p>
          <a:p>
            <a:r>
              <a:rPr dirty="0"/>
              <a:t>Diagonal Trend: Points aligned to diagonal indicate accurate predictions.</a:t>
            </a:r>
          </a:p>
          <a:p>
            <a:r>
              <a:rPr dirty="0"/>
              <a:t>Model Comparison: </a:t>
            </a:r>
            <a:r>
              <a:rPr dirty="0" err="1"/>
              <a:t>XGBoost</a:t>
            </a:r>
            <a:r>
              <a:rPr dirty="0"/>
              <a:t> showed slightly higher accuracy than Random Forest.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8095F-4E19-B8CC-BC38-4E1D8BF479CD}"/>
              </a:ext>
            </a:extLst>
          </p:cNvPr>
          <p:cNvSpPr>
            <a:spLocks noGrp="1"/>
          </p:cNvSpPr>
          <p:nvPr>
            <p:ph type="title"/>
          </p:nvPr>
        </p:nvSpPr>
        <p:spPr/>
        <p:txBody>
          <a:bodyPr/>
          <a:lstStyle/>
          <a:p>
            <a:r>
              <a:rPr lang="en-IN" dirty="0"/>
              <a:t>Methods used</a:t>
            </a:r>
          </a:p>
        </p:txBody>
      </p:sp>
      <p:sp>
        <p:nvSpPr>
          <p:cNvPr id="4" name="TextBox 3">
            <a:extLst>
              <a:ext uri="{FF2B5EF4-FFF2-40B4-BE49-F238E27FC236}">
                <a16:creationId xmlns:a16="http://schemas.microsoft.com/office/drawing/2014/main" id="{F6895929-0E74-B781-120D-9BDA87C8F456}"/>
              </a:ext>
            </a:extLst>
          </p:cNvPr>
          <p:cNvSpPr txBox="1"/>
          <p:nvPr/>
        </p:nvSpPr>
        <p:spPr>
          <a:xfrm>
            <a:off x="768096" y="1958612"/>
            <a:ext cx="7125944" cy="4524315"/>
          </a:xfrm>
          <a:prstGeom prst="rect">
            <a:avLst/>
          </a:prstGeom>
          <a:noFill/>
        </p:spPr>
        <p:txBody>
          <a:bodyPr wrap="square" rtlCol="0">
            <a:spAutoFit/>
          </a:bodyPr>
          <a:lstStyle/>
          <a:p>
            <a:r>
              <a:rPr lang="en-US" dirty="0"/>
              <a:t>The project utilized a mix of descriptive analytics, data visualization, and predictive modeling methods to study transport demand. Descriptive analysis was first carried out to see the general trends in the data, such as the total seat sales, average seats per ride, and determining peak and off-peak demand times over months and weeks. Power BI was utilized to establish interactive visualizations like line charts, bar graphs, and scatter plots, revealing fundamental patterns like the most demanded routes (e.g., Kisii) and weekday trends (e.g., Friday high sales). For predictive modeling, machine learning algorithms like Random Forest and </a:t>
            </a:r>
            <a:r>
              <a:rPr lang="en-US" dirty="0" err="1"/>
              <a:t>XGBoost</a:t>
            </a:r>
            <a:r>
              <a:rPr lang="en-US" dirty="0"/>
              <a:t> regressors were implemented to predict seat demand. The performance of these models was examined through the comparison of actual and predicted values, where close alignment of points to the diagonal line showed high prediction accuracy. Between the models, </a:t>
            </a:r>
            <a:r>
              <a:rPr lang="en-US" dirty="0" err="1"/>
              <a:t>XGBoost</a:t>
            </a:r>
            <a:r>
              <a:rPr lang="en-US" dirty="0"/>
              <a:t> performed slightly better than Random Forest, implying more generalization for this dataset. These techniques collectively gave a complete picture of demand behavior and enabled strong forecasting.</a:t>
            </a:r>
          </a:p>
        </p:txBody>
      </p:sp>
    </p:spTree>
    <p:extLst>
      <p:ext uri="{BB962C8B-B14F-4D97-AF65-F5344CB8AC3E}">
        <p14:creationId xmlns:p14="http://schemas.microsoft.com/office/powerpoint/2010/main" val="10736622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25B1E-88AB-A841-6D66-25E7D1334A38}"/>
              </a:ext>
            </a:extLst>
          </p:cNvPr>
          <p:cNvSpPr>
            <a:spLocks noGrp="1"/>
          </p:cNvSpPr>
          <p:nvPr>
            <p:ph type="title"/>
          </p:nvPr>
        </p:nvSpPr>
        <p:spPr>
          <a:xfrm>
            <a:off x="768096" y="583203"/>
            <a:ext cx="7290054" cy="1499616"/>
          </a:xfrm>
        </p:spPr>
        <p:txBody>
          <a:bodyPr>
            <a:normAutofit/>
          </a:bodyPr>
          <a:lstStyle/>
          <a:p>
            <a:r>
              <a:rPr lang="en-IN" sz="4000" dirty="0"/>
              <a:t>Visualisation using power bi</a:t>
            </a:r>
          </a:p>
        </p:txBody>
      </p:sp>
      <p:pic>
        <p:nvPicPr>
          <p:cNvPr id="6" name="Picture 5">
            <a:extLst>
              <a:ext uri="{FF2B5EF4-FFF2-40B4-BE49-F238E27FC236}">
                <a16:creationId xmlns:a16="http://schemas.microsoft.com/office/drawing/2014/main" id="{E97361CD-F260-90A6-DDFC-8E53F8F14722}"/>
              </a:ext>
            </a:extLst>
          </p:cNvPr>
          <p:cNvPicPr>
            <a:picLocks noChangeAspect="1"/>
          </p:cNvPicPr>
          <p:nvPr/>
        </p:nvPicPr>
        <p:blipFill>
          <a:blip r:embed="rId2"/>
          <a:stretch>
            <a:fillRect/>
          </a:stretch>
        </p:blipFill>
        <p:spPr>
          <a:xfrm>
            <a:off x="659039" y="2235833"/>
            <a:ext cx="7939677" cy="4475404"/>
          </a:xfrm>
          <a:prstGeom prst="rect">
            <a:avLst/>
          </a:prstGeom>
        </p:spPr>
      </p:pic>
      <p:sp>
        <p:nvSpPr>
          <p:cNvPr id="7" name="TextBox 6">
            <a:extLst>
              <a:ext uri="{FF2B5EF4-FFF2-40B4-BE49-F238E27FC236}">
                <a16:creationId xmlns:a16="http://schemas.microsoft.com/office/drawing/2014/main" id="{8082838C-B2AD-4B85-D195-5832B8B3D9DC}"/>
              </a:ext>
            </a:extLst>
          </p:cNvPr>
          <p:cNvSpPr txBox="1"/>
          <p:nvPr/>
        </p:nvSpPr>
        <p:spPr>
          <a:xfrm>
            <a:off x="768096" y="1789994"/>
            <a:ext cx="1726498" cy="369332"/>
          </a:xfrm>
          <a:prstGeom prst="rect">
            <a:avLst/>
          </a:prstGeom>
          <a:noFill/>
        </p:spPr>
        <p:txBody>
          <a:bodyPr wrap="none" rtlCol="0">
            <a:spAutoFit/>
          </a:bodyPr>
          <a:lstStyle/>
          <a:p>
            <a:r>
              <a:rPr lang="en-IN" dirty="0"/>
              <a:t>1. For Raw data:</a:t>
            </a:r>
          </a:p>
        </p:txBody>
      </p:sp>
    </p:spTree>
    <p:extLst>
      <p:ext uri="{BB962C8B-B14F-4D97-AF65-F5344CB8AC3E}">
        <p14:creationId xmlns:p14="http://schemas.microsoft.com/office/powerpoint/2010/main" val="41854375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27B29F-8902-B8F6-41F4-11D4D32618B4}"/>
              </a:ext>
            </a:extLst>
          </p:cNvPr>
          <p:cNvSpPr txBox="1"/>
          <p:nvPr/>
        </p:nvSpPr>
        <p:spPr>
          <a:xfrm>
            <a:off x="528506" y="637563"/>
            <a:ext cx="2561279" cy="369332"/>
          </a:xfrm>
          <a:prstGeom prst="rect">
            <a:avLst/>
          </a:prstGeom>
          <a:noFill/>
        </p:spPr>
        <p:txBody>
          <a:bodyPr wrap="none" rtlCol="0">
            <a:spAutoFit/>
          </a:bodyPr>
          <a:lstStyle/>
          <a:p>
            <a:r>
              <a:rPr lang="en-IN" dirty="0"/>
              <a:t>2. For the Predicted data:</a:t>
            </a:r>
          </a:p>
        </p:txBody>
      </p:sp>
      <p:pic>
        <p:nvPicPr>
          <p:cNvPr id="4" name="Picture 3">
            <a:extLst>
              <a:ext uri="{FF2B5EF4-FFF2-40B4-BE49-F238E27FC236}">
                <a16:creationId xmlns:a16="http://schemas.microsoft.com/office/drawing/2014/main" id="{8DF76950-02C8-7F56-4D09-126BBD828FF6}"/>
              </a:ext>
            </a:extLst>
          </p:cNvPr>
          <p:cNvPicPr>
            <a:picLocks noChangeAspect="1"/>
          </p:cNvPicPr>
          <p:nvPr/>
        </p:nvPicPr>
        <p:blipFill>
          <a:blip r:embed="rId2"/>
          <a:stretch>
            <a:fillRect/>
          </a:stretch>
        </p:blipFill>
        <p:spPr>
          <a:xfrm>
            <a:off x="528506" y="1329374"/>
            <a:ext cx="8415628" cy="4752644"/>
          </a:xfrm>
          <a:prstGeom prst="rect">
            <a:avLst/>
          </a:prstGeom>
        </p:spPr>
      </p:pic>
    </p:spTree>
    <p:extLst>
      <p:ext uri="{BB962C8B-B14F-4D97-AF65-F5344CB8AC3E}">
        <p14:creationId xmlns:p14="http://schemas.microsoft.com/office/powerpoint/2010/main" val="3607012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The transport analysis reveals significant trends and provides accurate predictions. These insights support operational improvements and strategic planning in transportation services.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52</TotalTime>
  <Words>460</Words>
  <Application>Microsoft Office PowerPoint</Application>
  <PresentationFormat>On-screen Show (4:3)</PresentationFormat>
  <Paragraphs>28</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Tw Cen MT</vt:lpstr>
      <vt:lpstr>Tw Cen MT Condensed</vt:lpstr>
      <vt:lpstr>Wingdings 3</vt:lpstr>
      <vt:lpstr>Integral</vt:lpstr>
      <vt:lpstr>Transport Demand Prediction Analysis</vt:lpstr>
      <vt:lpstr>Project Objective</vt:lpstr>
      <vt:lpstr>Key Insights</vt:lpstr>
      <vt:lpstr>Key Insights (continued)</vt:lpstr>
      <vt:lpstr>Methods used</vt:lpstr>
      <vt:lpstr>Visualisation using power bi</vt:lpstr>
      <vt:lpstr>PowerPoint Presentation</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Smaranika sethy</cp:lastModifiedBy>
  <cp:revision>2</cp:revision>
  <dcterms:created xsi:type="dcterms:W3CDTF">2013-01-27T09:14:16Z</dcterms:created>
  <dcterms:modified xsi:type="dcterms:W3CDTF">2025-08-04T14:19:33Z</dcterms:modified>
  <cp:category/>
</cp:coreProperties>
</file>